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1</a:t>
            </a:r>
          </a:p>
          <a:p>
            <a:r>
              <a:t>Introduce the project title, team members, and a one-line summary:</a:t>
            </a:r>
          </a:p>
          <a:p>
            <a:r>
              <a:t>We use Apache Spark (RDDs + Structured Streaming) to turn the static Yelp Open Dataset into a real-time geospatial activity dashboard that shows hotspots, rating trends, and popular categories across cities.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1</a:t>
            </a:r>
          </a:p>
          <a:p>
            <a:r>
              <a:t>Emphasize why geospatial + real-time is interesting: users can discover trending areas, and businesses can monitor local competition and demand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1</a:t>
            </a:r>
          </a:p>
          <a:p>
            <a:r>
              <a:t>Describe each file briefly and highlight the latitude/longitude fields as the key for geospatial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2</a:t>
            </a:r>
          </a:p>
          <a:p>
            <a:r>
              <a:t>This slide sets concrete goals so the audience understands what you will deliver by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2</a:t>
            </a:r>
          </a:p>
          <a:p>
            <a:r>
              <a:t>Briefly recall Spark's core abstraction (RDD) and relate it to what you are implementing. Stress that even when using higher-level APIs, the execution is still RDD-based.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2</a:t>
            </a:r>
          </a:p>
          <a:p>
            <a:r>
              <a:t>Walk left-to-right through the pipeline, highlighting that Spark's RDD abstraction underpins the streaming and geospatial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2</a:t>
            </a:r>
          </a:p>
          <a:p>
            <a:r>
              <a:t>Use this diagram to explain how static business data flows directly into Spark as an RDD-backed dimension, while review/check-in events are first turned into streams, then enriched with location in Spark, aggregated, and finally served to the geospatial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3</a:t>
            </a:r>
          </a:p>
          <a:p>
            <a:r>
              <a:t>Describe each software component and mention the main RDD operations inside:</a:t>
            </a:r>
          </a:p>
          <a:p>
            <a:r>
              <a:t>- RDDBuilder: sc.textFile, map for JSON parsing</a:t>
            </a:r>
          </a:p>
          <a:p>
            <a:r>
              <a:t>- GeoBucketer: map to assign each event to a cellId</a:t>
            </a:r>
          </a:p>
          <a:p>
            <a:r>
              <a:t>- Aggregator: reduceByKey, join with business RDDs</a:t>
            </a:r>
          </a:p>
          <a:p>
            <a:r>
              <a:t>- Persistence: actions like saveAsTextFile, collect for dashboard previews</a:t>
            </a:r>
          </a:p>
          <a:p>
            <a:r>
              <a:t>This slide makes the RDD usage explicit from a software design perspective.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3</a:t>
            </a:r>
          </a:p>
          <a:p>
            <a:r>
              <a:t>Explain why we need bucketing: maps are easier to read when showing areas (cells or clusters) instead of thousands of scattered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3</a:t>
            </a:r>
          </a:p>
          <a:p>
            <a:r>
              <a:t>Walk through how hotspots are defined conceptually and how Spark’s window functions help implement them efficiently.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4</a:t>
            </a:r>
          </a:p>
          <a:p>
            <a:r>
              <a:t>Highlight that categories make the dashboard more actionable: not just where is busy, but what kind of places are driving the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4</a:t>
            </a:r>
          </a:p>
          <a:p>
            <a:r>
              <a:t>Describe what a user sees and how they interact with the dashboard. Emphasize that the map is central to the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Any member</a:t>
            </a:r>
          </a:p>
          <a:p>
            <a:r>
              <a:t>Summarize the main technologies and note any trade-offs (e.g., simple grid vs more complex geospatial libraries).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Any member</a:t>
            </a:r>
          </a:p>
          <a:p>
            <a:r>
              <a:t>Show that the work is broken into manageable steps and aligns with your course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1</a:t>
            </a:r>
          </a:p>
          <a:p>
            <a:r>
              <a:t>Wrap up by restating the key contributions and quickly outlining possible extensions if you had more time or production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Geospatial Yelp Activity Dashboard</a:t>
            </a:r>
          </a:p>
          <a:p>
            <a:r>
              <a:t>with Apache Spark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Members: [Name 1], [Name 2], [Name 3], [Name 4]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Location matters: users care about what is popular near them right now, not last month.</a:t>
            </a:r>
          </a:p>
          <a:p>
            <a:pPr lvl="1"/>
            <a:r>
              <a:t>Yelp data contains rich spatial information (cities, coordinates, categories).</a:t>
            </a:r>
          </a:p>
          <a:p>
            <a:pPr lvl="1"/>
            <a:r>
              <a:t>Most public analyses focus on offline summaries, not live geospatial trends.</a:t>
            </a:r>
          </a:p>
          <a:p>
            <a:pPr lvl="1"/>
            <a:r>
              <a:t>Goal: Build a real-time geospatial view of Yelp activity using Spark and streaming.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Yelp Open Dataset – Geospatial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business.json: business_id, name, city, state, latitude, longitude, categories, stars.</a:t>
            </a:r>
          </a:p>
          <a:p>
            <a:pPr lvl="1"/>
            <a:r>
              <a:t>review.json: reviews with stars, text, user_id, business_id, date (used as events).</a:t>
            </a:r>
          </a:p>
          <a:p>
            <a:pPr lvl="1"/>
            <a:r>
              <a:t>checkin.json: timestamps of check-ins per business (proxy for activity).</a:t>
            </a:r>
          </a:p>
          <a:p>
            <a:pPr lvl="1"/>
            <a:r>
              <a:t>We join reviews/check-ins with business coordinates to place events on the map.</a:t>
            </a:r>
          </a:p>
          <a:p>
            <a:pPr lvl="1"/>
            <a:r>
              <a:t>Events are replayed in time order to simulate real-time streams.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Simulate real-time Yelp review and check-in streams from static JSON files.</a:t>
            </a:r>
          </a:p>
          <a:p>
            <a:pPr lvl="1"/>
            <a:r>
              <a:t>Use Apache Spark RDDs and Structured Streaming to compute geospatial aggregates.</a:t>
            </a:r>
          </a:p>
          <a:p>
            <a:pPr lvl="1"/>
            <a:r>
              <a:t>Detect and visualize activity hotspots at neighborhood/city/grid levels.</a:t>
            </a:r>
          </a:p>
          <a:p>
            <a:pPr lvl="1"/>
            <a:r>
              <a:t>Track real-time rating changes and popular categories by area.</a:t>
            </a:r>
          </a:p>
          <a:p>
            <a:pPr lvl="1"/>
            <a:r>
              <a:t>Expose a live dashboard with map-based and time-series views.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Spark Programming Model – RDDs, Transformations,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RDD (Resilient Distributed Dataset): immutable, distributed collection of records.</a:t>
            </a:r>
          </a:p>
          <a:p>
            <a:pPr lvl="1"/>
            <a:r>
              <a:t>Transformations (lazy): map, filter, flatMap, mapPartitions, join, reduceByKey, etc.</a:t>
            </a:r>
          </a:p>
          <a:p>
            <a:pPr lvl="1"/>
            <a:r>
              <a:t>Actions (eager): count, collect, take, saveAsTextFile, countByKey, foreach.</a:t>
            </a:r>
          </a:p>
          <a:p>
            <a:pPr lvl="1"/>
            <a:r>
              <a:t>Lineage: each RDD remembers how it was derived, enabling fault tolerance.</a:t>
            </a:r>
          </a:p>
          <a:p>
            <a:pPr lvl="1"/>
            <a:r>
              <a:t>We express our geospatial pipeline as a sequence of RDD transformations + 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Sources: Yelp business, review, and check-in JSON files.</a:t>
            </a:r>
          </a:p>
          <a:p>
            <a:pPr lvl="1"/>
            <a:r>
              <a:t>Ingestion Layer: Feeder scripts simulate ordered event streams (Kafka or file-based).</a:t>
            </a:r>
          </a:p>
          <a:p>
            <a:pPr lvl="1"/>
            <a:r>
              <a:t>Processing Layer: Spark Structured Streaming for joins, windows, and geospatial bucketing.</a:t>
            </a:r>
          </a:p>
          <a:p>
            <a:pPr lvl="1"/>
            <a:r>
              <a:t>RDD Layer: transformations and actions over event and dimension RDDs.</a:t>
            </a:r>
          </a:p>
          <a:p>
            <a:pPr lvl="1"/>
            <a:r>
              <a:t>Visualization Layer: Web dashboard with map and charts (e.g., Streamlit + map library).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Spark Streaming &amp; Geospatial Architecture (Conceptual)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371600"/>
            <a:ext cx="219456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business.json</a:t>
            </a:r>
          </a:p>
          <a:p>
            <a:r>
              <a:t>(static, with lat/long)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286000"/>
            <a:ext cx="219456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review.json</a:t>
            </a:r>
          </a:p>
          <a:p>
            <a:r>
              <a:t>(events: stars, text, date)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0"/>
            <a:ext cx="219456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checkin.json</a:t>
            </a:r>
          </a:p>
          <a:p>
            <a:r>
              <a:t>(events: check-in times)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286000"/>
            <a:ext cx="219456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Feeder Scripts / Kafka</a:t>
            </a:r>
          </a:p>
          <a:p>
            <a:r>
              <a:t>(simulated event stream)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2286000"/>
            <a:ext cx="219456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Spark Structured Streaming</a:t>
            </a:r>
          </a:p>
          <a:p>
            <a:r>
              <a:t>+ Geospatial Bucketing</a:t>
            </a:r>
          </a:p>
          <a:p>
            <a:r>
              <a:t>(windowed aggregations)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3474720"/>
            <a:ext cx="219456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Aggregated Geo Metrics</a:t>
            </a:r>
          </a:p>
          <a:p>
            <a:r>
              <a:t>(Parquet/Delta/Kafka)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3474720"/>
            <a:ext cx="219456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Geospatial Dashboard</a:t>
            </a:r>
          </a:p>
          <a:p>
            <a:r>
              <a:t>(Map + Charts)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71600" y="1737360"/>
            <a:ext cx="4663440" cy="914400"/>
          </a:xfrm>
          <a:prstGeom prst="line">
            <a:avLst/>
          </a:prstGeom>
          <a:ln w="19050"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2651760"/>
            <a:ext cx="2468880" cy="0"/>
          </a:xfrm>
          <a:prstGeom prst="line">
            <a:avLst/>
          </a:prstGeom>
          <a:ln w="19050"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71600" y="2651760"/>
            <a:ext cx="2468880" cy="914400"/>
          </a:xfrm>
          <a:prstGeom prst="line">
            <a:avLst/>
          </a:prstGeom>
          <a:ln w="19050"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40480" y="2651760"/>
            <a:ext cx="2194560" cy="0"/>
          </a:xfrm>
          <a:prstGeom prst="line">
            <a:avLst/>
          </a:prstGeom>
          <a:ln w="19050"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840480" y="2651760"/>
            <a:ext cx="2194560" cy="1188720"/>
          </a:xfrm>
          <a:prstGeom prst="line">
            <a:avLst/>
          </a:prstGeom>
          <a:ln w="19050"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840480" y="3840480"/>
            <a:ext cx="2194560" cy="0"/>
          </a:xfrm>
          <a:prstGeom prst="line">
            <a:avLst/>
          </a:prstGeom>
          <a:ln w="19050"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Architecture – RDD Processing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01168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IngestionService</a:t>
            </a:r>
          </a:p>
          <a:p>
            <a:r>
              <a:t>(read JSON, parse)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371600"/>
            <a:ext cx="201168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RDDBuilder</a:t>
            </a:r>
          </a:p>
          <a:p>
            <a:r>
              <a:t>(textFile → RDDs)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371600"/>
            <a:ext cx="201168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GeoBucketer</a:t>
            </a:r>
          </a:p>
          <a:p>
            <a:r>
              <a:t>(map → (cellId, event))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743200"/>
            <a:ext cx="201168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Aggregator</a:t>
            </a:r>
          </a:p>
          <a:p>
            <a:r>
              <a:t>(reduceByKey, join)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2743200"/>
            <a:ext cx="201168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Persistence</a:t>
            </a:r>
          </a:p>
          <a:p>
            <a:r>
              <a:t>(actions: save, count)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63040" y="1737360"/>
            <a:ext cx="2286000" cy="0"/>
          </a:xfrm>
          <a:prstGeom prst="line">
            <a:avLst/>
          </a:prstGeom>
          <a:ln w="19050"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749040" y="1737360"/>
            <a:ext cx="2286000" cy="0"/>
          </a:xfrm>
          <a:prstGeom prst="line">
            <a:avLst/>
          </a:prstGeom>
          <a:ln w="19050"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749040" y="1737360"/>
            <a:ext cx="2286000" cy="1371600"/>
          </a:xfrm>
          <a:prstGeom prst="line">
            <a:avLst/>
          </a:prstGeom>
          <a:ln w="19050"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749040" y="3108960"/>
            <a:ext cx="2286000" cy="0"/>
          </a:xfrm>
          <a:prstGeom prst="line">
            <a:avLst/>
          </a:prstGeom>
          <a:ln w="19050"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Geospatial Modeling – From Points to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data: individual businesses with latitude and longitude.</a:t>
            </a:r>
          </a:p>
          <a:p>
            <a:pPr lvl="1"/>
            <a:r>
              <a:t>We map each event (review/check-in) to a spatial bucket (e.g., city, grid cell, or geohash).</a:t>
            </a:r>
          </a:p>
          <a:p>
            <a:pPr lvl="1"/>
            <a:r>
              <a:t>Grid approach: divide each city into latitude-longitude cells.</a:t>
            </a:r>
          </a:p>
          <a:p>
            <a:pPr lvl="1"/>
            <a:r>
              <a:t>Alternative: cluster businesses into neighborhoods using K-Means for dense cities.</a:t>
            </a:r>
          </a:p>
          <a:p>
            <a:pPr lvl="1"/>
            <a:r>
              <a:t>This allows us to compute metrics per area rather than per individual point.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Analytics – Hotspots &amp; Rating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 events per area in sliding windows (e.g., 30-minute window, 10-minute slide).</a:t>
            </a:r>
          </a:p>
          <a:p>
            <a:pPr lvl="1"/>
            <a:r>
              <a:t>Hotspot score: recent activity vs historical baseline per area.</a:t>
            </a:r>
          </a:p>
          <a:p>
            <a:pPr lvl="1"/>
            <a:r>
              <a:t>Track average rating per area and detect sudden drops or spikes.</a:t>
            </a:r>
          </a:p>
          <a:p>
            <a:pPr lvl="1"/>
            <a:r>
              <a:t>Identify 'emerging areas' where both activity and rating are trending up.</a:t>
            </a:r>
          </a:p>
          <a:p>
            <a:pPr lvl="1"/>
            <a:r>
              <a:t>All computed using Spark window and group-by operations on area + event_time.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Analytics – Categories &amp; City-Level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Join events with business categories to rank popular cuisines/types per area.</a:t>
            </a:r>
          </a:p>
          <a:p>
            <a:pPr lvl="1"/>
            <a:r>
              <a:t>Compute 'top categories right now' for each city or neighborhood.</a:t>
            </a:r>
          </a:p>
          <a:p>
            <a:pPr lvl="1"/>
            <a:r>
              <a:t>Compare current category mix with typical historical mix to spot anomalies.</a:t>
            </a:r>
          </a:p>
          <a:p>
            <a:pPr lvl="1"/>
            <a:r>
              <a:t>Aggregate by city to display cross-city comparisons (e.g., busiest cities today).</a:t>
            </a:r>
          </a:p>
          <a:p>
            <a:pPr lvl="1"/>
            <a:r>
              <a:t>These metrics drive dashboards like bar charts and stacked time-series.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Design &amp; User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 view: heatmap of hotspots (activity and rating) per area.</a:t>
            </a:r>
          </a:p>
          <a:p>
            <a:pPr lvl="1"/>
            <a:r>
              <a:t>Click on an area to see recent reviews, average rating, and top categories.</a:t>
            </a:r>
          </a:p>
          <a:p>
            <a:pPr lvl="1"/>
            <a:r>
              <a:t>Time-series panel: activity and rating trends for a selected city/neighborhood.</a:t>
            </a:r>
          </a:p>
          <a:p>
            <a:pPr lvl="1"/>
            <a:r>
              <a:t>Filter controls: city, category, time range, and hotspot threshold.</a:t>
            </a:r>
          </a:p>
          <a:p>
            <a:pPr lvl="1"/>
            <a:r>
              <a:t>Built with a web framework (e.g., Streamlit + map component like folium/pydeck).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Data: Yelp Open Dataset (business, review, checkin).</a:t>
            </a:r>
          </a:p>
          <a:p>
            <a:pPr lvl="1"/>
            <a:r>
              <a:t>Processing: Apache Spark (RDD API, Structured Streaming, Spark SQL, window functions).</a:t>
            </a:r>
          </a:p>
          <a:p>
            <a:pPr lvl="1"/>
            <a:r>
              <a:t>Geospatial Layer: simple grid/geohash bucketing and optional clustering.</a:t>
            </a:r>
          </a:p>
          <a:p>
            <a:pPr lvl="1"/>
            <a:r>
              <a:t>Ingestion: Python feeder scripts and/or Kafka for event streaming.</a:t>
            </a:r>
          </a:p>
          <a:p>
            <a:pPr lvl="1"/>
            <a:r>
              <a:t>Visualization: Streamlit/web dashboard with interactive map; Parquet/Delta for fast reads.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Plan &amp;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 – Data Exploration: inspect Yelp data, validate coordinates, clean missing values.</a:t>
            </a:r>
          </a:p>
          <a:p>
            <a:pPr lvl="1"/>
            <a:r>
              <a:t>Phase 2 – Stream Simulation: implement event feeders and basic Spark streaming job.</a:t>
            </a:r>
          </a:p>
          <a:p>
            <a:pPr lvl="1"/>
            <a:r>
              <a:t>Phase 3 – RDD &amp; Geospatial Logic: implement bucketing (grid/geohash) and RDD aggregations.</a:t>
            </a:r>
          </a:p>
          <a:p>
            <a:pPr lvl="1"/>
            <a:r>
              <a:t>Phase 4 – Dashboard: build map-based UI and connect to aggregated outputs.</a:t>
            </a:r>
          </a:p>
          <a:p>
            <a:pPr lvl="1"/>
            <a:r>
              <a:t>Phase 5 – Evaluation &amp; Demo: stress test with higher event rates and prepare final demo.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transform static Yelp data into a real-time geospatial analytics experience.</a:t>
            </a:r>
          </a:p>
          <a:p>
            <a:pPr lvl="1"/>
            <a:r>
              <a:t>Spark RDDs and Structured Streaming power hotspot detection and dynamic area-level metrics.</a:t>
            </a:r>
          </a:p>
          <a:p>
            <a:pPr lvl="1"/>
            <a:r>
              <a:t>Dashboard reveals where, when, and what categories are trending across cities.</a:t>
            </a:r>
          </a:p>
          <a:p>
            <a:pPr lvl="1"/>
            <a:r>
              <a:t>Future work: sentiment-aware maps, anomaly detection, richer geospatial libraries (e.g., H3).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